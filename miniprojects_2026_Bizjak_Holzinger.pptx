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59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55190-1EDB-4E15-A55D-2C299806304F}" v="41" dt="2026-03-09T08:55:43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73" autoAdjust="0"/>
    <p:restoredTop sz="94792" autoAdjust="0"/>
  </p:normalViewPr>
  <p:slideViewPr>
    <p:cSldViewPr snapToGrid="0">
      <p:cViewPr>
        <p:scale>
          <a:sx n="150" d="100"/>
          <a:sy n="150" d="100"/>
        </p:scale>
        <p:origin x="-3576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o Bizjak" userId="f2268089-9066-4256-bae9-df0e3b375357" providerId="ADAL" clId="{D2512FF6-2862-45D5-B7CE-D7F6011F458C}"/>
    <pc:docChg chg="undo custSel addSld delSld modSld">
      <pc:chgData name="Marko Bizjak" userId="f2268089-9066-4256-bae9-df0e3b375357" providerId="ADAL" clId="{D2512FF6-2862-45D5-B7CE-D7F6011F458C}" dt="2026-03-09T08:59:44.192" v="1109" actId="14100"/>
      <pc:docMkLst>
        <pc:docMk/>
      </pc:docMkLst>
      <pc:sldChg chg="addSp delSp modSp mod">
        <pc:chgData name="Marko Bizjak" userId="f2268089-9066-4256-bae9-df0e3b375357" providerId="ADAL" clId="{D2512FF6-2862-45D5-B7CE-D7F6011F458C}" dt="2026-03-09T08:40:52.133" v="839" actId="20577"/>
        <pc:sldMkLst>
          <pc:docMk/>
          <pc:sldMk cId="1565210211" sldId="257"/>
        </pc:sldMkLst>
        <pc:spChg chg="add del mod">
          <ac:chgData name="Marko Bizjak" userId="f2268089-9066-4256-bae9-df0e3b375357" providerId="ADAL" clId="{D2512FF6-2862-45D5-B7CE-D7F6011F458C}" dt="2026-03-09T08:08:45.752" v="583"/>
          <ac:spMkLst>
            <pc:docMk/>
            <pc:sldMk cId="1565210211" sldId="257"/>
            <ac:spMk id="2" creationId="{C490A0B4-5B40-DBA9-1B3B-0A0E86EE2B48}"/>
          </ac:spMkLst>
        </pc:spChg>
        <pc:spChg chg="mod">
          <ac:chgData name="Marko Bizjak" userId="f2268089-9066-4256-bae9-df0e3b375357" providerId="ADAL" clId="{D2512FF6-2862-45D5-B7CE-D7F6011F458C}" dt="2026-03-09T08:40:52.133" v="839" actId="20577"/>
          <ac:spMkLst>
            <pc:docMk/>
            <pc:sldMk cId="1565210211" sldId="257"/>
            <ac:spMk id="3" creationId="{B48D6192-2AAD-EBA7-E6E2-724DCE845505}"/>
          </ac:spMkLst>
        </pc:spChg>
      </pc:sldChg>
      <pc:sldChg chg="addSp delSp modSp mod">
        <pc:chgData name="Marko Bizjak" userId="f2268089-9066-4256-bae9-df0e3b375357" providerId="ADAL" clId="{D2512FF6-2862-45D5-B7CE-D7F6011F458C}" dt="2026-03-09T08:50:20.587" v="1087" actId="20578"/>
        <pc:sldMkLst>
          <pc:docMk/>
          <pc:sldMk cId="3399759015" sldId="259"/>
        </pc:sldMkLst>
        <pc:spChg chg="mod">
          <ac:chgData name="Marko Bizjak" userId="f2268089-9066-4256-bae9-df0e3b375357" providerId="ADAL" clId="{D2512FF6-2862-45D5-B7CE-D7F6011F458C}" dt="2026-03-09T08:50:20.587" v="1087" actId="20578"/>
          <ac:spMkLst>
            <pc:docMk/>
            <pc:sldMk cId="3399759015" sldId="259"/>
            <ac:spMk id="3" creationId="{B48D6192-2AAD-EBA7-E6E2-724DCE845505}"/>
          </ac:spMkLst>
        </pc:spChg>
        <pc:spChg chg="add mod">
          <ac:chgData name="Marko Bizjak" userId="f2268089-9066-4256-bae9-df0e3b375357" providerId="ADAL" clId="{D2512FF6-2862-45D5-B7CE-D7F6011F458C}" dt="2026-03-09T08:10:03.702" v="619"/>
          <ac:spMkLst>
            <pc:docMk/>
            <pc:sldMk cId="3399759015" sldId="259"/>
            <ac:spMk id="4" creationId="{E0403F6D-E938-FD65-63F0-2D3661007FBB}"/>
          </ac:spMkLst>
        </pc:spChg>
      </pc:sldChg>
      <pc:sldChg chg="addSp delSp modSp mod">
        <pc:chgData name="Marko Bizjak" userId="f2268089-9066-4256-bae9-df0e3b375357" providerId="ADAL" clId="{D2512FF6-2862-45D5-B7CE-D7F6011F458C}" dt="2026-03-09T08:08:48.249" v="584"/>
        <pc:sldMkLst>
          <pc:docMk/>
          <pc:sldMk cId="3997812060" sldId="261"/>
        </pc:sldMkLst>
        <pc:spChg chg="mod">
          <ac:chgData name="Marko Bizjak" userId="f2268089-9066-4256-bae9-df0e3b375357" providerId="ADAL" clId="{D2512FF6-2862-45D5-B7CE-D7F6011F458C}" dt="2026-03-09T08:08:48.249" v="584"/>
          <ac:spMkLst>
            <pc:docMk/>
            <pc:sldMk cId="3997812060" sldId="261"/>
            <ac:spMk id="2" creationId="{C490A0B4-5B40-DBA9-1B3B-0A0E86EE2B48}"/>
          </ac:spMkLst>
        </pc:spChg>
        <pc:spChg chg="mod">
          <ac:chgData name="Marko Bizjak" userId="f2268089-9066-4256-bae9-df0e3b375357" providerId="ADAL" clId="{D2512FF6-2862-45D5-B7CE-D7F6011F458C}" dt="2026-03-06T13:38:22.516" v="374" actId="20577"/>
          <ac:spMkLst>
            <pc:docMk/>
            <pc:sldMk cId="3997812060" sldId="261"/>
            <ac:spMk id="3" creationId="{B48D6192-2AAD-EBA7-E6E2-724DCE845505}"/>
          </ac:spMkLst>
        </pc:spChg>
        <pc:picChg chg="add mod">
          <ac:chgData name="Marko Bizjak" userId="f2268089-9066-4256-bae9-df0e3b375357" providerId="ADAL" clId="{D2512FF6-2862-45D5-B7CE-D7F6011F458C}" dt="2026-03-06T13:38:26.279" v="383" actId="1035"/>
          <ac:picMkLst>
            <pc:docMk/>
            <pc:sldMk cId="3997812060" sldId="261"/>
            <ac:picMk id="1026" creationId="{18378A2A-091A-E81A-911C-A2D3B404923C}"/>
          </ac:picMkLst>
        </pc:picChg>
      </pc:sldChg>
      <pc:sldChg chg="modSp add mod">
        <pc:chgData name="Marko Bizjak" userId="f2268089-9066-4256-bae9-df0e3b375357" providerId="ADAL" clId="{D2512FF6-2862-45D5-B7CE-D7F6011F458C}" dt="2026-03-09T08:45:30.469" v="983" actId="20577"/>
        <pc:sldMkLst>
          <pc:docMk/>
          <pc:sldMk cId="875464572" sldId="262"/>
        </pc:sldMkLst>
        <pc:spChg chg="mod">
          <ac:chgData name="Marko Bizjak" userId="f2268089-9066-4256-bae9-df0e3b375357" providerId="ADAL" clId="{D2512FF6-2862-45D5-B7CE-D7F6011F458C}" dt="2026-03-09T08:12:09.997" v="641" actId="20577"/>
          <ac:spMkLst>
            <pc:docMk/>
            <pc:sldMk cId="875464572" sldId="262"/>
            <ac:spMk id="2" creationId="{74AD0901-6E59-9E82-90D4-6802EE4036D4}"/>
          </ac:spMkLst>
        </pc:spChg>
        <pc:spChg chg="mod">
          <ac:chgData name="Marko Bizjak" userId="f2268089-9066-4256-bae9-df0e3b375357" providerId="ADAL" clId="{D2512FF6-2862-45D5-B7CE-D7F6011F458C}" dt="2026-03-09T08:45:30.469" v="983" actId="20577"/>
          <ac:spMkLst>
            <pc:docMk/>
            <pc:sldMk cId="875464572" sldId="262"/>
            <ac:spMk id="3" creationId="{01A23A75-2528-10CE-0740-E954FCA402FC}"/>
          </ac:spMkLst>
        </pc:spChg>
      </pc:sldChg>
      <pc:sldChg chg="addSp delSp modSp add mod">
        <pc:chgData name="Marko Bizjak" userId="f2268089-9066-4256-bae9-df0e3b375357" providerId="ADAL" clId="{D2512FF6-2862-45D5-B7CE-D7F6011F458C}" dt="2026-03-09T08:33:02.291" v="701" actId="14100"/>
        <pc:sldMkLst>
          <pc:docMk/>
          <pc:sldMk cId="2178210159" sldId="263"/>
        </pc:sldMkLst>
        <pc:spChg chg="mod">
          <ac:chgData name="Marko Bizjak" userId="f2268089-9066-4256-bae9-df0e3b375357" providerId="ADAL" clId="{D2512FF6-2862-45D5-B7CE-D7F6011F458C}" dt="2026-03-09T08:09:48.906" v="617"/>
          <ac:spMkLst>
            <pc:docMk/>
            <pc:sldMk cId="2178210159" sldId="263"/>
            <ac:spMk id="2" creationId="{F7481537-595E-D73C-A9C8-F06371726C79}"/>
          </ac:spMkLst>
        </pc:spChg>
        <pc:spChg chg="mod">
          <ac:chgData name="Marko Bizjak" userId="f2268089-9066-4256-bae9-df0e3b375357" providerId="ADAL" clId="{D2512FF6-2862-45D5-B7CE-D7F6011F458C}" dt="2026-03-09T08:32:36.264" v="695"/>
          <ac:spMkLst>
            <pc:docMk/>
            <pc:sldMk cId="2178210159" sldId="263"/>
            <ac:spMk id="3" creationId="{523AAC55-EADC-32F9-6C2F-25DEA333BF12}"/>
          </ac:spMkLst>
        </pc:spChg>
        <pc:spChg chg="add del">
          <ac:chgData name="Marko Bizjak" userId="f2268089-9066-4256-bae9-df0e3b375357" providerId="ADAL" clId="{D2512FF6-2862-45D5-B7CE-D7F6011F458C}" dt="2026-03-09T08:32:33.827" v="694" actId="478"/>
          <ac:spMkLst>
            <pc:docMk/>
            <pc:sldMk cId="2178210159" sldId="263"/>
            <ac:spMk id="4" creationId="{DC484DD5-69FF-6FDE-1714-1705C5493858}"/>
          </ac:spMkLst>
        </pc:spChg>
        <pc:spChg chg="add del mod">
          <ac:chgData name="Marko Bizjak" userId="f2268089-9066-4256-bae9-df0e3b375357" providerId="ADAL" clId="{D2512FF6-2862-45D5-B7CE-D7F6011F458C}" dt="2026-03-09T08:32:33.827" v="694" actId="478"/>
          <ac:spMkLst>
            <pc:docMk/>
            <pc:sldMk cId="2178210159" sldId="263"/>
            <ac:spMk id="5" creationId="{8E4EAA03-DC38-9515-6E15-6D9E42797AAD}"/>
          </ac:spMkLst>
        </pc:spChg>
        <pc:spChg chg="add del mod">
          <ac:chgData name="Marko Bizjak" userId="f2268089-9066-4256-bae9-df0e3b375357" providerId="ADAL" clId="{D2512FF6-2862-45D5-B7CE-D7F6011F458C}" dt="2026-03-09T08:32:33.827" v="694" actId="478"/>
          <ac:spMkLst>
            <pc:docMk/>
            <pc:sldMk cId="2178210159" sldId="263"/>
            <ac:spMk id="6" creationId="{C124C364-68FF-AF4E-7EB2-F8B6CB1FF418}"/>
          </ac:spMkLst>
        </pc:spChg>
        <pc:picChg chg="add mod">
          <ac:chgData name="Marko Bizjak" userId="f2268089-9066-4256-bae9-df0e3b375357" providerId="ADAL" clId="{D2512FF6-2862-45D5-B7CE-D7F6011F458C}" dt="2026-03-09T08:33:02.291" v="701" actId="14100"/>
          <ac:picMkLst>
            <pc:docMk/>
            <pc:sldMk cId="2178210159" sldId="263"/>
            <ac:picMk id="8" creationId="{8DCDED70-748E-15BA-E9AE-9527DBD3CA06}"/>
          </ac:picMkLst>
        </pc:picChg>
        <pc:picChg chg="del">
          <ac:chgData name="Marko Bizjak" userId="f2268089-9066-4256-bae9-df0e3b375357" providerId="ADAL" clId="{D2512FF6-2862-45D5-B7CE-D7F6011F458C}" dt="2026-03-09T08:32:14.252" v="690" actId="478"/>
          <ac:picMkLst>
            <pc:docMk/>
            <pc:sldMk cId="2178210159" sldId="263"/>
            <ac:picMk id="1026" creationId="{B9A2955B-9D5E-9B3E-D9C9-469AA7E3BF09}"/>
          </ac:picMkLst>
        </pc:picChg>
      </pc:sldChg>
      <pc:sldChg chg="modSp add mod">
        <pc:chgData name="Marko Bizjak" userId="f2268089-9066-4256-bae9-df0e3b375357" providerId="ADAL" clId="{D2512FF6-2862-45D5-B7CE-D7F6011F458C}" dt="2026-03-09T08:59:44.192" v="1109" actId="14100"/>
        <pc:sldMkLst>
          <pc:docMk/>
          <pc:sldMk cId="4075550401" sldId="264"/>
        </pc:sldMkLst>
        <pc:spChg chg="mod">
          <ac:chgData name="Marko Bizjak" userId="f2268089-9066-4256-bae9-df0e3b375357" providerId="ADAL" clId="{D2512FF6-2862-45D5-B7CE-D7F6011F458C}" dt="2026-03-09T08:59:44.192" v="1109" actId="14100"/>
          <ac:spMkLst>
            <pc:docMk/>
            <pc:sldMk cId="4075550401" sldId="264"/>
            <ac:spMk id="3" creationId="{D361EF2F-CF7F-88BC-7315-69DB44B0C87C}"/>
          </ac:spMkLst>
        </pc:spChg>
        <pc:spChg chg="mod">
          <ac:chgData name="Marko Bizjak" userId="f2268089-9066-4256-bae9-df0e3b375357" providerId="ADAL" clId="{D2512FF6-2862-45D5-B7CE-D7F6011F458C}" dt="2026-03-09T08:09:51.980" v="618"/>
          <ac:spMkLst>
            <pc:docMk/>
            <pc:sldMk cId="4075550401" sldId="264"/>
            <ac:spMk id="4" creationId="{B2028984-1492-DF3A-AB02-BD2A8A166B3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9EBCC-BBED-4F26-B58B-383D726687BC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D74F5-F97B-4B3B-9887-A7D73622626A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763199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1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03827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2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7756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3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017577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1BD3-F0F2-134F-1A08-507C74FE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F516FD-DF5C-897C-1AA2-C8E95FC39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47F57-DE76-EBFC-EA03-771488E37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27339-7629-1EE2-B8C9-E24CB2195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4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618639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E6B3-37B8-A4FB-6A8B-70D26F1F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1EBC9-6B63-7841-5461-C96086C53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28274-A348-FBD6-C9DC-66AC94254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3F417-23A9-5907-1B62-EE794C84D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5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9202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2F9CD-6A22-60B3-0CC6-658978F4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2F898-9313-42D3-2DC3-6F3165048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0D4A5-1EAE-A978-DEA1-322671B4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6796E-BEE6-345F-A85D-E8D4C6FB5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D74F5-F97B-4B3B-9887-A7D73622626A}" type="slidenum">
              <a:rPr lang="en-SI" smtClean="0"/>
              <a:t>6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45162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DF2E-2AFD-247D-9E4F-7720177F5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13C39-1570-91BD-B745-8FCDC4628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127B3-E07D-DB13-2CE5-FEB73FB2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CB91C-4F98-8B29-3431-C0E6F1FA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21A75-526A-847B-7759-B33FC65A7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71595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5CC5-FF5E-9537-E9F7-72E56422B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3FDC2-9B31-D664-09FA-E8413A9DE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772A7-1E89-F0BE-F00A-81E79796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A6E8A-31EB-DCF2-1736-98D450D0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82E57-778B-DD8F-2707-598D72F7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37871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E662-74B9-F67C-DB8A-8CABEB169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1CD83-BE93-7659-41E1-603A718B7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D1CD1-3E06-C0CC-5D2C-1901AA20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F9CB3-53F0-8187-4F9C-7412D640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2A10E-7851-1E1C-7088-8B523C304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42299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2AEF-01BC-7BC9-25BA-A85D10BE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903A9-170F-8835-3EA5-11CE000E5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9A18F-18FF-E0C9-BB96-F764B0D78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CCB58-CE24-9974-0F2F-E516B570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AACB1-EE0B-59DD-5D8E-13432C625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0ADA2-EC7F-D85E-1FF2-F149E98B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69795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7F39-8FF9-F835-A5DC-B9219338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C2C58-8085-2E49-8015-008CA20EE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F3F97-0736-8290-02EA-6E30B7589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909D-ECF3-9CB0-C731-E1534DC908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8F8438-AC7D-5358-30F3-56FF78DB0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48C79-09E2-7D24-5089-5CEA3E26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C9350-B5A7-6CF7-35CD-56C17B0F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19FDEE-9827-C7E8-1DA9-E11A9409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0151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B5B7-7E62-7C28-BEB8-AEEEBCDA3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22DA62-0FA5-8149-A104-C4FAC621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934DF-8E8D-4047-022E-D8861ACE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80EC0-C172-B01F-1C20-D11B32630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12159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B5AE1-C8C1-6529-B9C5-CB858E40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E8A32-1914-3E7E-8FC5-63F04AC48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73C4-0399-0B53-3047-82201C6F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14671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8122-60C1-F23E-6266-89AD5BB1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E4FF-C6EA-FE79-E207-12BBCC00B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58FB9-C32D-CC77-17D4-D1C7C3E845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8773C-4336-E743-9C73-7315226B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41A53-3124-8939-1336-9B75B25B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C49B1-2222-179D-96C9-9F15238F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282600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0E54-C4A0-1414-3AB6-2F32FE4B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5448E-AB03-6892-9AA4-AF49B4C2F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13DB6-C195-B537-8945-9D976EEB8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D75AA-7E79-428E-7942-B339DE21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6B1DE-D910-2FEB-B6BE-E6945CE2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620DD-BE10-5E85-0A81-599A863C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185530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ACB1B-2CCE-2324-0B02-D0629BDC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5CD2C-6B67-C7BC-5E22-6FB3A5BA6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F0436-C79F-4864-6E17-B1D7446C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5AD02-4C34-A39A-7A85-8B88D2B23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594DB-D550-37C5-C2CD-C883FF4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086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7BDBD-27B2-DE15-20C4-AF5CFEAE1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FA2B5-0DBF-FADA-B013-3E02D5345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F56DF-3257-E9FF-A77B-595FB15D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5E758-EB17-4380-B2E0-FA7B6869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36BDA-A974-171C-15BA-F3E81C67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2880649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27F1D3-F218-AA62-0AC0-CD20E211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6A89F-18BF-800E-F6AB-59390567B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7DA72-4A27-2819-46DF-910E9A556D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5D333-3B48-40CC-8BF2-007EBB1BC6F9}" type="datetimeFigureOut">
              <a:rPr lang="en-SI" smtClean="0"/>
              <a:t>09/03/2026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6416C-E3B7-8457-E22B-A733AEAAB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B8C92-5C52-7F58-2FF1-60C3FE3BC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58499A-2251-4593-B4FF-DE2CE3EF5163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98964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.bizjak@um.s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lss.si/" TargetMode="External"/><Relationship Id="rId3" Type="http://schemas.openxmlformats.org/officeDocument/2006/relationships/hyperlink" Target="https://ieeexplore.ieee.org/abstract/document/8947948" TargetMode="External"/><Relationship Id="rId7" Type="http://schemas.openxmlformats.org/officeDocument/2006/relationships/hyperlink" Target="https://cds.climate.copernicus.eu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hub.copernicus.eu/" TargetMode="External"/><Relationship Id="rId5" Type="http://schemas.openxmlformats.org/officeDocument/2006/relationships/hyperlink" Target="https://www.sciencedirect.com/science/article/pii/S1352231023004570" TargetMode="External"/><Relationship Id="rId4" Type="http://schemas.openxmlformats.org/officeDocument/2006/relationships/hyperlink" Target="https://www.sciencedirect.com/science/article/pii/S0022169425016609" TargetMode="External"/><Relationship Id="rId9" Type="http://schemas.openxmlformats.org/officeDocument/2006/relationships/hyperlink" Target="https://www.meshlab.ne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m.bizjak@um.s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aq.org/" TargetMode="External"/><Relationship Id="rId3" Type="http://schemas.openxmlformats.org/officeDocument/2006/relationships/hyperlink" Target="https://onlinelibrary.wiley.com/doi/full/10.1111/mice.13484" TargetMode="External"/><Relationship Id="rId7" Type="http://schemas.openxmlformats.org/officeDocument/2006/relationships/hyperlink" Target="https://cds.climate.copernicus.eu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hub.copernicus.eu/" TargetMode="External"/><Relationship Id="rId5" Type="http://schemas.openxmlformats.org/officeDocument/2006/relationships/hyperlink" Target="https://link.springer.com/article/10.1186/s40517-024-00304-7" TargetMode="External"/><Relationship Id="rId10" Type="http://schemas.openxmlformats.org/officeDocument/2006/relationships/hyperlink" Target="https://www.meshlab.net/" TargetMode="External"/><Relationship Id="rId4" Type="http://schemas.openxmlformats.org/officeDocument/2006/relationships/hyperlink" Target="https://arxiv.org/abs/2510.00457" TargetMode="External"/><Relationship Id="rId9" Type="http://schemas.openxmlformats.org/officeDocument/2006/relationships/hyperlink" Target="https://clss.si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A0B4-5B40-DBA9-1B3B-0A0E86EE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1176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Deep Learning for Environmental Parameter Estimation using Earth Observation Data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6192-2AAD-EBA7-E6E2-724DCE84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8927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Goal: </a:t>
            </a:r>
            <a:r>
              <a:rPr lang="en-US" dirty="0"/>
              <a:t>to develop and apply physics-informed neural networks (PINNs) for estimating environmental parameters from grid-structured EO data, enforcing physical consistency via governing equations to improve accuracy and generalization over purely data-driven models.</a:t>
            </a:r>
          </a:p>
          <a:p>
            <a:r>
              <a:rPr lang="en-US" b="1" dirty="0"/>
              <a:t>Tasks: </a:t>
            </a:r>
          </a:p>
          <a:p>
            <a:pPr lvl="1"/>
            <a:r>
              <a:rPr lang="en-US" dirty="0"/>
              <a:t>Review of existing solutions</a:t>
            </a:r>
          </a:p>
          <a:p>
            <a:pPr lvl="1"/>
            <a:r>
              <a:rPr lang="en-US" dirty="0"/>
              <a:t>Select an environmental parameter (e.g. land surface temperature, moisture, pollution, …)</a:t>
            </a:r>
          </a:p>
          <a:p>
            <a:pPr lvl="1"/>
            <a:r>
              <a:rPr lang="en-US" dirty="0"/>
              <a:t>Implement a baseline machine learning or deep learning model operating on grid-structured EO data</a:t>
            </a:r>
          </a:p>
          <a:p>
            <a:pPr lvl="1"/>
            <a:r>
              <a:rPr lang="en-US" dirty="0"/>
              <a:t>Implement a PINN-based estimation pipeline using DL</a:t>
            </a:r>
          </a:p>
          <a:p>
            <a:pPr lvl="1"/>
            <a:r>
              <a:rPr lang="en-US" dirty="0"/>
              <a:t>Compare baseline and PINN models using quantitative metrics and visual analysis.</a:t>
            </a:r>
          </a:p>
          <a:p>
            <a:pPr lvl="1"/>
            <a:r>
              <a:rPr lang="en-US" dirty="0"/>
              <a:t>Evaluate and discuss the results</a:t>
            </a:r>
          </a:p>
          <a:p>
            <a:pPr lvl="1"/>
            <a:endParaRPr lang="en-US" dirty="0"/>
          </a:p>
          <a:p>
            <a:r>
              <a:rPr lang="en-US" b="1" dirty="0"/>
              <a:t>Task progress tracking: </a:t>
            </a:r>
            <a:r>
              <a:rPr lang="en-US" dirty="0"/>
              <a:t>recommend to use a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</a:p>
          <a:p>
            <a:pPr lvl="1"/>
            <a:r>
              <a:rPr lang="en-US" dirty="0"/>
              <a:t>Contact info.: </a:t>
            </a:r>
            <a:r>
              <a:rPr lang="en-US" dirty="0">
                <a:hlinkClick r:id="rId3"/>
              </a:rPr>
              <a:t>m.bizjak@um.si</a:t>
            </a:r>
            <a:r>
              <a:rPr lang="en-US" dirty="0"/>
              <a:t>  (visiting at HCAI)</a:t>
            </a:r>
          </a:p>
          <a:p>
            <a:pPr lvl="1"/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1565210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A0B4-5B40-DBA9-1B3B-0A0E86EE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1150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Deep Learning for Environmental Parameter Estimation using Earth Observation Data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6192-2AAD-EBA7-E6E2-724DCE84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Example 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Source: </a:t>
            </a:r>
            <a:r>
              <a:rPr lang="en-US" sz="2400" dirty="0"/>
              <a:t>Chen et al., </a:t>
            </a:r>
            <a:r>
              <a:rPr lang="en-US" sz="2400" dirty="0" err="1"/>
              <a:t>DeepUrbanDownscale</a:t>
            </a:r>
            <a:r>
              <a:rPr lang="en-US" sz="2400" dirty="0"/>
              <a:t>: A physics informed deep learning framework for high-resolution urban surface temperature estimation via 3D point clouds</a:t>
            </a:r>
            <a:endParaRPr lang="en-US" sz="2400" b="1" dirty="0"/>
          </a:p>
          <a:p>
            <a:r>
              <a:rPr lang="en-US" sz="2400" b="1" dirty="0"/>
              <a:t> https://www.sciencedirect.com/science/article/pii/S0303243421003573</a:t>
            </a:r>
            <a:endParaRPr lang="en-SI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378A2A-091A-E81A-911C-A2D3B40492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97"/>
          <a:stretch>
            <a:fillRect/>
          </a:stretch>
        </p:blipFill>
        <p:spPr bwMode="auto">
          <a:xfrm>
            <a:off x="1841529" y="2397616"/>
            <a:ext cx="8508942" cy="2542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781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6192-2AAD-EBA7-E6E2-724DCE845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615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Literature:</a:t>
            </a:r>
          </a:p>
          <a:p>
            <a:r>
              <a:rPr lang="en-US" sz="1800" dirty="0" err="1"/>
              <a:t>DeepUrbanDownscale</a:t>
            </a:r>
            <a:r>
              <a:rPr lang="en-US" sz="1800" dirty="0"/>
              <a:t>: A physics informed deep learning framework for high-resolution urban surface temperature estimation via 3D point clouds: </a:t>
            </a:r>
            <a:r>
              <a:rPr lang="en-US" sz="1800" dirty="0">
                <a:hlinkClick r:id="rId3"/>
              </a:rPr>
              <a:t>https://ieeexplore.ieee.org/abstract/document/8947948</a:t>
            </a:r>
            <a:endParaRPr lang="en-US" sz="1800" dirty="0"/>
          </a:p>
          <a:p>
            <a:r>
              <a:rPr lang="en-US" sz="1800" dirty="0"/>
              <a:t>Physics-informed neural networks enhanced by data augmentation: a novel framework for robust soil moisture estimation using multi-source data fusion: </a:t>
            </a:r>
            <a:r>
              <a:rPr lang="en-US" sz="1800" dirty="0">
                <a:hlinkClick r:id="rId4"/>
              </a:rPr>
              <a:t>https://www.sciencedirect.com/science/article/pii/S0022169425016609</a:t>
            </a:r>
            <a:r>
              <a:rPr lang="en-US" sz="1800" dirty="0"/>
              <a:t> </a:t>
            </a:r>
          </a:p>
          <a:p>
            <a:r>
              <a:rPr lang="en-US" sz="1900" dirty="0"/>
              <a:t>Physical informed neural network improving the WRF-CHEM results of air pollution using satellite-based remote sensing data: </a:t>
            </a:r>
            <a:r>
              <a:rPr lang="en-US" sz="1900" dirty="0">
                <a:hlinkClick r:id="rId5"/>
              </a:rPr>
              <a:t>https://www.sciencedirect.com/science/article/pii/S1352231023004570</a:t>
            </a:r>
            <a:r>
              <a:rPr lang="en-US" sz="1900" dirty="0"/>
              <a:t> </a:t>
            </a:r>
          </a:p>
          <a:p>
            <a:endParaRPr lang="en-US" sz="1800" dirty="0"/>
          </a:p>
          <a:p>
            <a:r>
              <a:rPr lang="en-US" b="1" dirty="0" err="1"/>
              <a:t>Prerequesete</a:t>
            </a:r>
            <a:r>
              <a:rPr lang="en-US" b="1" dirty="0"/>
              <a:t> knowledge: </a:t>
            </a:r>
            <a:r>
              <a:rPr lang="en-US" dirty="0"/>
              <a:t>Python/C++ or other, GIT, basic knowledge of ML/DL</a:t>
            </a:r>
          </a:p>
          <a:p>
            <a:endParaRPr lang="en-US" b="1" dirty="0"/>
          </a:p>
          <a:p>
            <a:r>
              <a:rPr lang="en-US" b="1" dirty="0"/>
              <a:t>Data: </a:t>
            </a:r>
          </a:p>
          <a:p>
            <a:pPr lvl="1"/>
            <a:r>
              <a:rPr lang="en-US" dirty="0">
                <a:hlinkClick r:id="rId6"/>
              </a:rPr>
              <a:t>https://scihub.copernicus.eu/</a:t>
            </a:r>
            <a:r>
              <a:rPr lang="en-US" dirty="0"/>
              <a:t> (Sentinel, Landsat)</a:t>
            </a:r>
          </a:p>
          <a:p>
            <a:pPr lvl="1"/>
            <a:r>
              <a:rPr lang="en-US" dirty="0">
                <a:hlinkClick r:id="rId7"/>
              </a:rPr>
              <a:t>https://cds.climate.copernicus.eu</a:t>
            </a:r>
            <a:r>
              <a:rPr lang="en-US" dirty="0"/>
              <a:t> (ERA5, environmental parameters)</a:t>
            </a:r>
          </a:p>
          <a:p>
            <a:pPr lvl="1"/>
            <a:r>
              <a:rPr lang="en-US" dirty="0">
                <a:hlinkClick r:id="rId8"/>
              </a:rPr>
              <a:t>https://clss.si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b="1" dirty="0"/>
              <a:t>Tools: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or TensorFlow, </a:t>
            </a:r>
            <a:r>
              <a:rPr lang="en-US" dirty="0" err="1"/>
              <a:t>DeepXDE</a:t>
            </a:r>
            <a:endParaRPr lang="en-US" dirty="0"/>
          </a:p>
          <a:p>
            <a:pPr lvl="1"/>
            <a:r>
              <a:rPr lang="en-US" dirty="0">
                <a:hlinkClick r:id="rId9"/>
              </a:rPr>
              <a:t>https://www.meshlab.net/</a:t>
            </a:r>
            <a:endParaRPr lang="en-US" dirty="0"/>
          </a:p>
          <a:p>
            <a:pPr lvl="1"/>
            <a:r>
              <a:rPr lang="en-US" dirty="0"/>
              <a:t>QGIS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403F6D-E938-FD65-63F0-2D366100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365125"/>
            <a:ext cx="1094648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Deep Learning for Environmental Parameter Estimation using Earth Observation Data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3399759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2593-AEDC-4CB7-CDBB-04A18047D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0901-6E59-9E82-90D4-6802EE40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11760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Graph Neural Networks for Environmental Parameter Estimation using Earth Observation Data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23A75-2528-10CE-0740-E954FCA4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28927" cy="4351338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Goal: </a:t>
            </a:r>
            <a:r>
              <a:rPr lang="en-US" dirty="0"/>
              <a:t>to develop and apply physics-informed graph neural networks (PIGNNs) for estimating environmental parameters </a:t>
            </a:r>
            <a:r>
              <a:rPr lang="en-US" dirty="0" err="1"/>
              <a:t>parameters</a:t>
            </a:r>
            <a:r>
              <a:rPr lang="en-US" dirty="0"/>
              <a:t> from EO data represented as a spatial or </a:t>
            </a:r>
            <a:r>
              <a:rPr lang="en-US" dirty="0" err="1"/>
              <a:t>spatio</a:t>
            </a:r>
            <a:r>
              <a:rPr lang="en-US" dirty="0"/>
              <a:t>-temporal graphs.</a:t>
            </a:r>
          </a:p>
          <a:p>
            <a:r>
              <a:rPr lang="en-US" b="1" dirty="0"/>
              <a:t>Tasks: </a:t>
            </a:r>
          </a:p>
          <a:p>
            <a:pPr lvl="1"/>
            <a:r>
              <a:rPr lang="en-US" dirty="0"/>
              <a:t>Review of existing solutions</a:t>
            </a:r>
          </a:p>
          <a:p>
            <a:pPr lvl="1"/>
            <a:r>
              <a:rPr lang="en-US" dirty="0"/>
              <a:t>Select an environmental parameter (e.g. land surface temperature, moisture, pollution, …)</a:t>
            </a:r>
          </a:p>
          <a:p>
            <a:pPr lvl="1"/>
            <a:r>
              <a:rPr lang="en-US" dirty="0"/>
              <a:t>Implement a baseline GNN model for parameter estimation</a:t>
            </a:r>
          </a:p>
          <a:p>
            <a:pPr lvl="1"/>
            <a:r>
              <a:rPr lang="en-US" dirty="0"/>
              <a:t>Implement a PIGNN-based estimation pipeline using DL</a:t>
            </a:r>
          </a:p>
          <a:p>
            <a:pPr lvl="1"/>
            <a:r>
              <a:rPr lang="en-US" dirty="0"/>
              <a:t>Compare baseline and PIGNN models using quantitative metrics and visual analysis.</a:t>
            </a:r>
          </a:p>
          <a:p>
            <a:pPr lvl="1"/>
            <a:r>
              <a:rPr lang="en-US" dirty="0"/>
              <a:t>Evaluate and discuss the results</a:t>
            </a:r>
          </a:p>
          <a:p>
            <a:pPr lvl="1"/>
            <a:endParaRPr lang="en-US" dirty="0"/>
          </a:p>
          <a:p>
            <a:r>
              <a:rPr lang="en-US" b="1" dirty="0"/>
              <a:t>Task progress tracking: </a:t>
            </a:r>
            <a:r>
              <a:rPr lang="en-US" dirty="0"/>
              <a:t>recommend to use a </a:t>
            </a:r>
            <a:r>
              <a:rPr lang="en-US" dirty="0" err="1"/>
              <a:t>Github</a:t>
            </a:r>
            <a:r>
              <a:rPr lang="en-US" dirty="0"/>
              <a:t> repository </a:t>
            </a:r>
          </a:p>
          <a:p>
            <a:pPr lvl="1"/>
            <a:r>
              <a:rPr lang="en-US" dirty="0"/>
              <a:t>Contact info.: </a:t>
            </a:r>
            <a:r>
              <a:rPr lang="en-US" dirty="0">
                <a:hlinkClick r:id="rId3"/>
              </a:rPr>
              <a:t>m.bizjak@um.si</a:t>
            </a:r>
            <a:r>
              <a:rPr lang="en-US" dirty="0"/>
              <a:t>  (visiting at HCAI)</a:t>
            </a:r>
          </a:p>
          <a:p>
            <a:pPr lvl="1"/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87546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2995-A5CB-569F-85A0-C11423764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1537-595E-D73C-A9C8-F0637172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65125"/>
            <a:ext cx="11150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Graph Neural Networks for Environmental Parameter Estimation using Earth Observation Data</a:t>
            </a:r>
            <a:endParaRPr lang="en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AAC55-EADC-32F9-6C2F-25DEA333B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b="1" dirty="0"/>
              <a:t>Example 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2400" b="1" dirty="0"/>
              <a:t>Source: </a:t>
            </a:r>
            <a:r>
              <a:rPr lang="en-US" sz="2400" dirty="0"/>
              <a:t>Xin et al., Interpretable physics-informed graph neural networks for flood forecasting</a:t>
            </a:r>
          </a:p>
          <a:p>
            <a:r>
              <a:rPr lang="en-US" sz="2400" b="1" dirty="0"/>
              <a:t> https://onlinelibrary.wiley.com/doi/full/10.1111/mice.13484</a:t>
            </a:r>
            <a:endParaRPr lang="en-S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CDED70-748E-15BA-E9AE-9527DBD3C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448" y="2492982"/>
            <a:ext cx="8253983" cy="23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21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61966-C73E-CF9E-E840-E5B7AF48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1EF2F-CF7F-88BC-7315-69DB44B0C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47150" cy="475615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Literature:</a:t>
            </a:r>
          </a:p>
          <a:p>
            <a:r>
              <a:rPr lang="en-US" sz="1800" dirty="0"/>
              <a:t>Xin et al., Interpretable physics-informed graph neural networks for flood forecasting : </a:t>
            </a:r>
            <a:r>
              <a:rPr lang="en-US" sz="1800" dirty="0">
                <a:hlinkClick r:id="rId3"/>
              </a:rPr>
              <a:t>https://onlinelibrary.wiley.com/doi/full/10.1111/mice.13484</a:t>
            </a:r>
            <a:endParaRPr lang="en-US" sz="1800" dirty="0"/>
          </a:p>
          <a:p>
            <a:r>
              <a:rPr lang="en-US" sz="1800" dirty="0"/>
              <a:t>Xin et al., </a:t>
            </a:r>
            <a:r>
              <a:rPr lang="en-US" sz="1800" dirty="0" err="1"/>
              <a:t>UrbanGraph</a:t>
            </a:r>
            <a:r>
              <a:rPr lang="en-US" sz="1800" dirty="0"/>
              <a:t>: Physics-Informed </a:t>
            </a:r>
            <a:r>
              <a:rPr lang="en-US" sz="1800" dirty="0" err="1"/>
              <a:t>Spatio</a:t>
            </a:r>
            <a:r>
              <a:rPr lang="en-US" sz="1800" dirty="0"/>
              <a:t>-Temporal Dynamic Heterogeneous Graphs for Urban Microclimate Prediction: </a:t>
            </a:r>
            <a:r>
              <a:rPr lang="en-US" sz="1900" dirty="0">
                <a:hlinkClick r:id="rId4"/>
              </a:rPr>
              <a:t>https://arxiv.org/abs/2510.00457</a:t>
            </a:r>
            <a:r>
              <a:rPr lang="en-US" sz="1900" dirty="0"/>
              <a:t> </a:t>
            </a:r>
            <a:endParaRPr lang="en-SI" sz="1900" dirty="0"/>
          </a:p>
          <a:p>
            <a:r>
              <a:rPr lang="en-US" sz="1900" dirty="0"/>
              <a:t>Thermal Earth model for the conterminous United States using an interpolative physics-informed graph neural network: </a:t>
            </a:r>
            <a:r>
              <a:rPr lang="en-US" sz="1900" dirty="0">
                <a:hlinkClick r:id="rId5"/>
              </a:rPr>
              <a:t>https://link.springer.com/article/10.1186/s40517-024-00304-7</a:t>
            </a:r>
            <a:r>
              <a:rPr lang="en-US" sz="1900" dirty="0"/>
              <a:t> </a:t>
            </a:r>
          </a:p>
          <a:p>
            <a:endParaRPr lang="en-US" sz="1800" dirty="0"/>
          </a:p>
          <a:p>
            <a:r>
              <a:rPr lang="en-US" b="1" dirty="0" err="1"/>
              <a:t>Prerequesete</a:t>
            </a:r>
            <a:r>
              <a:rPr lang="en-US" b="1" dirty="0"/>
              <a:t> knowledge: </a:t>
            </a:r>
            <a:r>
              <a:rPr lang="en-US" dirty="0"/>
              <a:t>Python/C++ or other, GIT, basic knowledge of ML/DL</a:t>
            </a:r>
          </a:p>
          <a:p>
            <a:endParaRPr lang="en-US" b="1" dirty="0"/>
          </a:p>
          <a:p>
            <a:r>
              <a:rPr lang="en-US" b="1" dirty="0"/>
              <a:t>Data: </a:t>
            </a:r>
          </a:p>
          <a:p>
            <a:pPr lvl="1"/>
            <a:r>
              <a:rPr lang="en-US" dirty="0">
                <a:hlinkClick r:id="rId6"/>
              </a:rPr>
              <a:t>https://scihub.copernicus.eu/</a:t>
            </a:r>
            <a:r>
              <a:rPr lang="en-US" dirty="0"/>
              <a:t> (Sentinel, Landsat)</a:t>
            </a:r>
          </a:p>
          <a:p>
            <a:pPr lvl="1"/>
            <a:r>
              <a:rPr lang="en-US" dirty="0">
                <a:hlinkClick r:id="rId7"/>
              </a:rPr>
              <a:t>https://cds.climate.copernicus.eu</a:t>
            </a:r>
            <a:r>
              <a:rPr lang="en-US" dirty="0"/>
              <a:t> (ERA5, environmental parameters)</a:t>
            </a:r>
          </a:p>
          <a:p>
            <a:pPr lvl="1"/>
            <a:r>
              <a:rPr lang="en-US" dirty="0">
                <a:hlinkClick r:id="rId8"/>
              </a:rPr>
              <a:t>https://openaq.org</a:t>
            </a:r>
            <a:r>
              <a:rPr lang="en-US" dirty="0"/>
              <a:t> (Air quality monitoring stations) </a:t>
            </a:r>
          </a:p>
          <a:p>
            <a:pPr lvl="1"/>
            <a:r>
              <a:rPr lang="en-US" dirty="0">
                <a:hlinkClick r:id="rId9"/>
              </a:rPr>
              <a:t>https://clss.si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b="1" dirty="0"/>
              <a:t>Tools: </a:t>
            </a:r>
          </a:p>
          <a:p>
            <a:pPr lvl="1"/>
            <a:r>
              <a:rPr lang="en-US" dirty="0" err="1"/>
              <a:t>PyTorch</a:t>
            </a:r>
            <a:r>
              <a:rPr lang="en-US" dirty="0"/>
              <a:t> Geometric or TensorFlow, </a:t>
            </a:r>
            <a:r>
              <a:rPr lang="en-US" dirty="0" err="1"/>
              <a:t>DeepXDE</a:t>
            </a:r>
            <a:endParaRPr lang="en-US" dirty="0"/>
          </a:p>
          <a:p>
            <a:pPr lvl="1"/>
            <a:r>
              <a:rPr lang="en-US" dirty="0">
                <a:hlinkClick r:id="rId10"/>
              </a:rPr>
              <a:t>https://www.meshlab.net/</a:t>
            </a:r>
            <a:endParaRPr lang="en-US" dirty="0"/>
          </a:p>
          <a:p>
            <a:pPr lvl="1"/>
            <a:r>
              <a:rPr lang="en-US" dirty="0"/>
              <a:t>QGIS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2028984-1492-DF3A-AB02-BD2A8A16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365125"/>
            <a:ext cx="1111567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Physics-Informed Graph Neural Networks for Environmental Parameter Estimation using Earth Observation Data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4075550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</TotalTime>
  <Words>723</Words>
  <Application>Microsoft Office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Physics-Informed Deep Learning for Environmental Parameter Estimation using Earth Observation Data</vt:lpstr>
      <vt:lpstr>Physics-Informed Deep Learning for Environmental Parameter Estimation using Earth Observation Data</vt:lpstr>
      <vt:lpstr>Physics-Informed Deep Learning for Environmental Parameter Estimation using Earth Observation Data</vt:lpstr>
      <vt:lpstr>Physics-Informed Graph Neural Networks for Environmental Parameter Estimation using Earth Observation Data</vt:lpstr>
      <vt:lpstr>Physics-Informed Graph Neural Networks for Environmental Parameter Estimation using Earth Observation Data</vt:lpstr>
      <vt:lpstr>Physics-Informed Graph Neural Networks for Environmental Parameter Estimation using Earth Observation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3D point clouds using explainable AI</dc:title>
  <dc:creator>Niko Lukač</dc:creator>
  <cp:lastModifiedBy>Marko Bizjak</cp:lastModifiedBy>
  <cp:revision>42</cp:revision>
  <dcterms:created xsi:type="dcterms:W3CDTF">2024-03-17T07:30:49Z</dcterms:created>
  <dcterms:modified xsi:type="dcterms:W3CDTF">2026-03-09T08:59:45Z</dcterms:modified>
</cp:coreProperties>
</file>